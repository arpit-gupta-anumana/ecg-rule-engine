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ECG RULE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96D6"/>
                </a:solidFill>
                <a:latin typeface="Calibri"/>
              </a:defRPr>
            </a:pPr>
            <a:r>
              <a:t>Explainable, Rule-Based ECG Interpretation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27432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Turning the GE 12SL Physician's Guide into a transparent,</a:t>
            </a:r>
            <a:br/>
            <a:r>
              <a:t>auditable, machine-executable diagnostic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96D6"/>
                </a:solidFill>
                <a:latin typeface="Calibri"/>
              </a:defRPr>
            </a:pPr>
            <a: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Rule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39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96D6"/>
                </a:solidFill>
                <a:latin typeface="Calibri"/>
              </a:defRPr>
            </a:pPr>
            <a:r>
              <a:t>133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39" y="4160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Variants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96D6"/>
                </a:solidFill>
                <a:latin typeface="Calibri"/>
              </a:defRPr>
            </a:pPr>
            <a:r>
              <a:t>21,799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59" y="4160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ECGs Validated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79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96D6"/>
                </a:solidFill>
                <a:latin typeface="Calibri"/>
              </a:defRPr>
            </a:pPr>
            <a:r>
              <a:t>99.9%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79" y="4160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Best F1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•  The GE 12SL algorithm interprets millions of ECGs worldwide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•  Its logic is documented in a ~100-page Physician's Guide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•  But the guide is written in dense, unstructured prose with mixed units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•  Hundreds of nested if/else/and/or conditions — no formal syntax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•  Hard to interpret even for experienced clinicians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0" y="1371600"/>
            <a:ext cx="3017520" cy="256032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0116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No transparency into why a diagnosis was flagged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Regulators require algorithmic explainability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QA teams need systematic validation tools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Clinicians cannot verify algorithm logic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73152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56 YAML Rule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2704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One file per cardiac condition, machine-readable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47672"/>
            <a:ext cx="73152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133 Diagnostic Variants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Every named criterion encoded (Sokolow-Lyon, Cornell, etc.)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60904"/>
            <a:ext cx="73152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609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Deterministic Rule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5351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Evaluates rules against ECG measurements — no ML black box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74136"/>
            <a:ext cx="73152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741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Fire Trace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6674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Shows exactly why each diagnosis was made or not made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87368"/>
            <a:ext cx="73152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873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Evaluation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7997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Validated against 21,799 real ECGs with full 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Pipeline Architecture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280160"/>
            <a:ext cx="640080" cy="64008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057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D6"/>
                </a:solidFill>
                <a:latin typeface="Calibri"/>
              </a:defRPr>
            </a:pPr>
            <a:r>
              <a:t>EXTRACT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377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/>
              </a:defRPr>
            </a:pPr>
            <a:r>
              <a:t>PDF → YAML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LLM-assisted transcription</a:t>
            </a:r>
            <a:br/>
            <a:r>
              <a:t>Manual page citations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74520" y="1444752"/>
            <a:ext cx="320040" cy="22860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60320" y="1280160"/>
            <a:ext cx="640080" cy="64008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057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E44AD"/>
                </a:solidFill>
                <a:latin typeface="Calibri"/>
              </a:defRPr>
            </a:pPr>
            <a:r>
              <a:t>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377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/>
              </a:defRPr>
            </a:pPr>
            <a:r>
              <a:t>Schema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7432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Pydantic validation</a:t>
            </a:r>
            <a:br/>
            <a:r>
              <a:t>Feature name registry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657600" y="1444752"/>
            <a:ext cx="320040" cy="22860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43400" y="1280160"/>
            <a:ext cx="640080" cy="6400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057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  <a:latin typeface="Calibri"/>
              </a:defRPr>
            </a:pPr>
            <a:r>
              <a:t>INGEST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377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/>
              </a:defRPr>
            </a:pPr>
            <a:r>
              <a:t>788 Features/ECG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7432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GE 12SL measurements</a:t>
            </a:r>
            <a:br/>
            <a:r>
              <a:t>Unit normalization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440680" y="1444752"/>
            <a:ext cx="320040" cy="22860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26479" y="1280160"/>
            <a:ext cx="640080" cy="64008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59" y="2057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39C12"/>
                </a:solidFill>
                <a:latin typeface="Calibri"/>
              </a:defRPr>
            </a:pPr>
            <a:r>
              <a:t>EVALUATE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59" y="2377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/>
              </a:defRPr>
            </a:pPr>
            <a:r>
              <a:t>Rule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59" y="27432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Deterministic evaluation</a:t>
            </a:r>
            <a:br/>
            <a:r>
              <a:t>21,799 ECGs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223759" y="1444752"/>
            <a:ext cx="320040" cy="22860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09560" y="1280160"/>
            <a:ext cx="640080" cy="64008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057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74C3C"/>
                </a:solidFill>
                <a:latin typeface="Calibri"/>
              </a:defRPr>
            </a:pPr>
            <a:r>
              <a:t>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2377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/>
              </a:defRPr>
            </a:pPr>
            <a:r>
              <a:t>Full Metrics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27432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Sens, Spec, PPV, NPV</a:t>
            </a:r>
            <a:br/>
            <a:r>
              <a:t>F1, ROC AUC, fire traces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a Rule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t>Example: Left Ventricular Hypertrophy (LVH) — Sokolow-Lyon Criterion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840480" cy="118872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C12"/>
                </a:solidFill>
                <a:latin typeface="Calibri"/>
              </a:defRPr>
            </a:pPr>
            <a:r>
              <a:t>MANUAL SAYS (p.64):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"max S in V1 or V2 + max R in V5</a:t>
            </a:r>
            <a:br/>
            <a:r>
              <a:t> or V6 &gt; 3500 uV AND age ≥ 30"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554480"/>
            <a:ext cx="4114800" cy="32004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645920"/>
            <a:ext cx="3840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C71"/>
                </a:solidFill>
                <a:latin typeface="Courier New"/>
              </a:defRPr>
            </a:pPr>
            <a:r>
              <a:t>disease: LVH</a:t>
            </a:r>
            <a:br/>
            <a:r>
              <a:t>exclusions: [LBBB, RBBB, WPW, Paced]</a:t>
            </a:r>
            <a:br/>
            <a:r>
              <a:t>variants:</a:t>
            </a:r>
            <a:br/>
            <a:r>
              <a:t>  - name: Sokolow_Lyon</a:t>
            </a:r>
            <a:br/>
            <a:r>
              <a:t>    manual_page: 64</a:t>
            </a:r>
            <a:br/>
            <a:r>
              <a:t>    clause:</a:t>
            </a:r>
            <a:br/>
            <a:r>
              <a:t>      kind: all_of</a:t>
            </a:r>
            <a:br/>
            <a:r>
              <a:t>      clauses:</a:t>
            </a:r>
            <a:br/>
            <a:r>
              <a:t>        - kind: threshold</a:t>
            </a:r>
            <a:br/>
            <a:r>
              <a:t>          expr: "max(S_V1, S_V2)</a:t>
            </a:r>
            <a:br/>
            <a:r>
              <a:t>                 + max(R_V5, R_V6)"</a:t>
            </a:r>
            <a:br/>
            <a:r>
              <a:t>          op: "&gt;"</a:t>
            </a:r>
            <a:br/>
            <a:r>
              <a:t>          value: 3.5</a:t>
            </a:r>
            <a:br/>
            <a:r>
              <a:t>        - kind: threshold</a:t>
            </a:r>
            <a:br/>
            <a:r>
              <a:t>          expr: "age_years"</a:t>
            </a:r>
            <a:br/>
            <a:r>
              <a:t>          op: "&gt;="</a:t>
            </a:r>
            <a:br/>
            <a:r>
              <a:t>          value: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Every rule cites the manual page number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Exclusions (LBBB, RBBB, WPW, Paced) are enforced automatically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Units are normalized (3500 uV → 3.5 mV)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Any departures from the manual are documented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Explainability: Fire Traces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F8C8D"/>
                </a:solidFill>
                <a:latin typeface="Calibri"/>
              </a:defRPr>
            </a:pPr>
            <a:r>
              <a:t>Every prediction comes with a complete, human-readable audit trail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8046720" cy="31089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CC71"/>
                </a:solidFill>
                <a:latin typeface="Courier New"/>
              </a:defRPr>
            </a:pPr>
            <a:r>
              <a:t>LVH: FIRED  (1 of 4 variants matched)</a:t>
            </a:r>
            <a:br/>
            <a:br/>
            <a:r>
              <a:t>  Exclusions: CLEAR</a:t>
            </a:r>
            <a:br/>
            <a:r>
              <a:t>    lbbb_flag=0, rbbb_flag=0, wpw_flag=0, paced_flag=0</a:t>
            </a:r>
            <a:br/>
            <a:br/>
            <a:r>
              <a:t>  [PASS] R_in_aVL:</a:t>
            </a:r>
            <a:br/>
            <a:r>
              <a:t>      R_aVL_mV = 1.35 &gt; 1.1   --&gt; TRUE</a:t>
            </a:r>
            <a:br/>
            <a:br/>
            <a:r>
              <a:t>  [FAIL] Cornell_product:</a:t>
            </a:r>
            <a:br/>
            <a:r>
              <a:t>      (R_aVL=1.35 + S_V3=0.9 + 0.6*sex_F=0) * QRS=96</a:t>
            </a:r>
            <a:br/>
            <a:r>
              <a:t>        = 216 &gt; 244   --&gt; FALSE</a:t>
            </a:r>
            <a:br/>
            <a:br/>
            <a:r>
              <a:t>  A clinician can verify every step.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Coverage: 56 Rules, 133 Variants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8046720" cy="640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1280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74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Rule Files</a:t>
                      </a:r>
                    </a:p>
                  </a:txBody>
                  <a:tcPr>
                    <a:solidFill>
                      <a:srgbClr val="0074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Variants</a:t>
                      </a:r>
                    </a:p>
                  </a:txBody>
                  <a:tcPr>
                    <a:solidFill>
                      <a:srgbClr val="0074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Conditions</a:t>
                      </a:r>
                    </a:p>
                  </a:txBody>
                  <a:tcPr>
                    <a:solidFill>
                      <a:srgbClr val="0074A8"/>
                    </a:solidFill>
                  </a:tcPr>
                </a:tc>
              </a:tr>
              <a:tr h="128016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Adult Contour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LVH, LBBB, RBBB, Q-Wave MI, ST changes, Hemiblocks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8016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Adult Rhythm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Sinus Rhythm, AFib, Flutter, AV Block, Pacing, WPW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128016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Pediatric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Age-adjusted LVH, RVH, QT, conduction, axis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8016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133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Full manual coverage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47472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Conditions include: LVH (4 variants), RVH, LBBB, RBBB, Incomplete BBB, LAFB/LPFB, WPW, AFib, Atrial Flutter, AV Block (all degrees), Sinus Rhythm (4 types), Q-Wave MI (5 regions), ST Elevation/Depression, T-Wave Ischemia, Prolonged QT, Low Voltage, Atrial Enlargement, Pulmonary Disease Pattern, Brugada, QRS-T Angle, and more.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Validation Dataset: 21,799 ECGs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8046720" cy="72969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121615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0074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74A8"/>
                    </a:solidFill>
                  </a:tcPr>
                </a:tc>
              </a:tr>
              <a:tr h="121615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Total ECGs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21,799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615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Features per ECG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788 (GE 12SL-computed measurements)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121615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Feature 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Amplitudes, durations, intervals, axes, heart rates (all 12 leads)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615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Ground truth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GE 12SL algorithm's own diagnostic statements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121615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PTB-XL (PhysioNet) + GE 12SL companion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3474720"/>
            <a:ext cx="8046720" cy="10972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Why GE 12SL Features?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The manual describes rules for the 12SL algorithm specifically. Using the algorithm's own computed measurements as input ensures we test the rules themselves — not the quality of third-party signal processing.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Results: Top-Performing Rules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7223760" cy="11521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22960"/>
                <a:gridCol w="1280160"/>
                <a:gridCol w="1280160"/>
                <a:gridCol w="914400"/>
                <a:gridCol w="1097280"/>
              </a:tblGrid>
              <a:tr h="115214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Disease</a:t>
                      </a:r>
                    </a:p>
                  </a:txBody>
                  <a:tcPr>
                    <a:solidFill>
                      <a:srgbClr val="0074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GT+</a:t>
                      </a:r>
                    </a:p>
                  </a:txBody>
                  <a:tcPr>
                    <a:solidFill>
                      <a:srgbClr val="0074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Sensitivity</a:t>
                      </a:r>
                    </a:p>
                  </a:txBody>
                  <a:tcPr>
                    <a:solidFill>
                      <a:srgbClr val="0074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Specificity</a:t>
                      </a:r>
                    </a:p>
                  </a:txBody>
                  <a:tcPr>
                    <a:solidFill>
                      <a:srgbClr val="0074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PPV</a:t>
                      </a:r>
                    </a:p>
                  </a:txBody>
                  <a:tcPr>
                    <a:solidFill>
                      <a:srgbClr val="0074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 Score</a:t>
                      </a:r>
                    </a:p>
                  </a:txBody>
                  <a:tcPr>
                    <a:solidFill>
                      <a:srgbClr val="0074A8"/>
                    </a:solidFill>
                  </a:tcPr>
                </a:tc>
              </a:tr>
              <a:tr h="1152144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PR Interval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1,343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99.99%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52144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Sinus Rhythm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19,634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98.9%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93.0%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99.2%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99.1%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1152144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Low Voltage QRS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52144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Q-Wave MI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4,132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78.7%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89.0%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62.6%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69.7%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1152144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LBBB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52144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Prolonged QT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636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65.6%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98.8%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61.2%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63.3%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1152144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RBBB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52144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LVH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4,108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38.7%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99.98%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99.8%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55.8%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1152144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Atrial Enlargement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Honest Results: Feature-Limited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These rules score 0% sensitivity by design — they require features not in the dataset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8229600" cy="8065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15214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Disease</a:t>
                      </a:r>
                    </a:p>
                  </a:txBody>
                  <a:tcPr>
                    <a:solidFill>
                      <a:srgbClr val="0074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GT Positives</a:t>
                      </a:r>
                    </a:p>
                  </a:txBody>
                  <a:tcPr>
                    <a:solidFill>
                      <a:srgbClr val="0074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Required Feature</a:t>
                      </a:r>
                    </a:p>
                  </a:txBody>
                  <a:tcPr>
                    <a:solidFill>
                      <a:srgbClr val="0074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74A8"/>
                    </a:solidFill>
                  </a:tcPr>
                </a:tc>
              </a:tr>
              <a:tr h="1152144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Atrial Fibrillation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Beat-to-beat RR intervals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Needs beat-level extractor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52144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Sinus Arrhythmia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1,473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RR variability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Needs beat-level extractor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1152144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Ectopy (PVC/PAC)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2,260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Individual beat morphology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Needs beat 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52144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Pacing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222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High-freq spike detection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Needs spike detector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1152144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Atrial Flutter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Sawtooth morphology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Needs waveform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52144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Junctional Rhythm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135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P-wave retrograde detection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Needs beat-level analysis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3840480"/>
            <a:ext cx="8046720" cy="82296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8F4E"/>
                </a:solidFill>
                <a:latin typeface="Calibri"/>
              </a:defRPr>
            </a:pPr>
            <a:r>
              <a:t>These 0% results are scientifically honest — they reflect genuine data limitations, not rule errors. Once beat-level features are added, these rules will activate immediately.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Metrics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4864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3 diseases with F1 &gt; 90%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18872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Near-perfect rule transcription (PR Interval, Sinus Rhythm, Low Voltage)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54864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6 diseases with F1 &gt; 60%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0195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Strong agreement with 12SL's own 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15184"/>
            <a:ext cx="54864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151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10 diseases with F1 &gt; 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15184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Meaningful concordance despite morphology limitations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28415"/>
            <a:ext cx="54864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28415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99.9% F1 for PR Interval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28415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Proves the pipeline: fully numeric rules match the algorithm almost exactly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41648"/>
            <a:ext cx="54864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416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8 conditions at 0% (expected)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041648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Honest: features required are not in the current dataset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Integrity &amp; Guardrails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188720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43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No threshold invention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1430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All values come from the manual or documented literature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10512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647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No score tuning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76479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We never adjust rules to improve metrics — scores reflect fidelity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432304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8658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No circular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386584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Ground truth labels are never used as input features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054096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0837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Documented departures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00837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Every operationalization is flagged for clinician review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675888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301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No hidden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63016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0% sensitivity is reported honestly when earned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297680"/>
            <a:ext cx="274320" cy="27432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51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Validated at every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2519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Pydantic schema, expression parser, feature registry, pytest suite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Roadmap: What's Next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8289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926080"/>
                <a:gridCol w="4572000"/>
              </a:tblGrid>
              <a:tr h="118414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0074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Initiative</a:t>
                      </a:r>
                    </a:p>
                  </a:txBody>
                  <a:tcPr>
                    <a:solidFill>
                      <a:srgbClr val="0074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0074A8"/>
                    </a:solidFill>
                  </a:tcPr>
                </a:tc>
              </a:tr>
              <a:tr h="118414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Beat-level feature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Activates AFib, Flutter, Ectopy, Pacing, Sinus Arrhythmia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414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Demographics integration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Enables age-gated and sex-specific thresholds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118414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Threshold calibration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Fine-tune operationalized thresholds on training folds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414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Bootstrap confidence intervals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95% CIs on all reported metrics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118414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Interactive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Web-based per-ECG fire trace explorer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414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Regulatory documentation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Compliance-ready rule audit documents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•  56 rule files, 133 variants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covering Adult Contour, Rhythm, and Pediatric 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•  21,799 ECGs evaluated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9659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with full Sens / Spec / PPV / NPV / F1 / ROC 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•  99.9% F1 on PR Interval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5603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near-perfect rule-to-algorithm concordance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•  Full fire traces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1546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every prediction has a clause-by-clause audit trail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•  Zero threshold 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49039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all departures documented, no circular logic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804672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690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Every diagnosis is explainable.  Every rule is auditable.  Every result is honest.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